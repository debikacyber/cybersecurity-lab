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82331"/>
                </a:solidFill>
              </a:rPr>
              <a:t>SQL INJECTION
EXPLOITATION &amp;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1E5A8C"/>
                </a:solidFill>
              </a:rPr>
              <a:t>8-Minute Video Demonstration • DVWA • Isolated VMware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4251960"/>
            <a:ext cx="9875520" cy="777240"/>
          </a:xfrm>
          <a:prstGeom prst="roundRect">
            <a:avLst/>
          </a:prstGeom>
          <a:solidFill>
            <a:srgbClr val="E6EDF4"/>
          </a:solidFill>
          <a:ln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82331"/>
                </a:solidFill>
              </a:rPr>
              <a:t>Debika Goswami  |  Kali Linux  |  Target: 192.168.23.130  |  DVWA: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1. Lab Setup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0:00–0:40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Kali Linux as testing machine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DVWA in an isolated VMware cybersecurity lab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Target: Metasploitable 2 / DVWA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Target IP: 192.168.23.130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Authorized laboratory-only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E5A8C"/>
                </a:solidFill>
              </a:rPr>
              <a:t>[ INSERT LAB SCREENSHOT ]
VMware + Kali + DVWA login/home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2. Establish a Normal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0:40–1:25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Open the SQL Injection module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Submit normal input: 1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Observe the record returned for ID 1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Use this result as the comparison point for the attack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E5A8C"/>
                </a:solidFill>
              </a:rPr>
              <a:t>[ INSERT LAB SCREENSHOT ]
DVWA SQL Injection page with ID = 1 and returned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3. Why the Application Is Vulnerable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1:25–2:15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182331"/>
          </a:solidFill>
          <a:ln>
            <a:solidFill>
              <a:srgbClr val="18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/>
          <a:lstStyle/>
          <a:p>
            <a:pPr algn="ctr"/>
            <a:r>
              <a:rPr sz="1800">
                <a:solidFill>
                  <a:srgbClr val="FFFFFF"/>
                </a:solidFill>
                <a:latin typeface="Consolas"/>
              </a:rPr>
              <a:t>SELECT * FROM users WHERE id = '1'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698480" cy="685800"/>
          </a:xfrm>
          <a:prstGeom prst="roundRect">
            <a:avLst/>
          </a:prstGeom>
          <a:solidFill>
            <a:srgbClr val="E6EDF4"/>
          </a:solidFill>
          <a:ln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82331"/>
                </a:solidFill>
              </a:rPr>
              <a:t>Root cause: user-controlled input is inserted directly into the SQL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SQL syntax and user data are not safely separated.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An attacker can influence the logical structure of the query.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This is the fundamental SQL Injection condition.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4. Exploitation — Boolean SQL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2:15–3:05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182331"/>
          </a:solidFill>
          <a:ln>
            <a:solidFill>
              <a:srgbClr val="18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/>
          <a:lstStyle/>
          <a:p>
            <a:pPr algn="ctr"/>
            <a:r>
              <a:rPr sz="1800">
                <a:solidFill>
                  <a:srgbClr val="FFFFFF"/>
                </a:solidFill>
                <a:latin typeface="Consolas"/>
              </a:rPr>
              <a:t>1' OR '1'='1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The injected condition evaluates as true.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The application returns records beyond the intended ID.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Demonstrates unauthorized data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71800"/>
            <a:ext cx="50749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E5A8C"/>
                </a:solidFill>
              </a:rPr>
              <a:t>[ INSERT LAB SCREENSHOT ]
DVWA result showing multiple user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698480" cy="502920"/>
          </a:xfrm>
          <a:prstGeom prst="roundRect">
            <a:avLst/>
          </a:prstGeom>
          <a:solidFill>
            <a:srgbClr val="E6EDF4"/>
          </a:solidFill>
          <a:ln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82331"/>
                </a:solidFill>
              </a:rPr>
              <a:t>Impact: query logic is altered by attacker-controlled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5. Database Schema Enumeration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3:05–3:50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Controlled UNION-based testing queries database metadata.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Observed lab tables include: guestbook and users.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Schema knowledge helps identify valuable database targets.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No destructive action is required for this demonstration.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E5A8C"/>
                </a:solidFill>
              </a:rPr>
              <a:t>[ INSERT LAB SCREENSHOT ]
DVWA result showing table names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6. Users Table Column Enumeration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3:50–4:30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The next step is to map the users table.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Supplied lab evidence identifies: user_id, first_name, Sur_name.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This reveals the structure of stored user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E5A8C"/>
                </a:solidFill>
              </a:rPr>
              <a:t>[ INSERT LAB SCREENSHOT ]
DVWA result showing users-table column names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7. Sensitive Credential Data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4:30–5:05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Lab evidence shows usernames and MD5 password hashes being returned.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Authentication data should be treated as compromised when exposed.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MD5 is not suitable for password storage.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Redact unnecessary credential values in a submitted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E5A8C"/>
                </a:solidFill>
              </a:rPr>
              <a:t>[ INSERT LAB SCREENSHOT ]
Credential extraction screenshot — REDACT before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15000"/>
            <a:ext cx="10698480" cy="502920"/>
          </a:xfrm>
          <a:prstGeom prst="roundRect">
            <a:avLst/>
          </a:prstGeom>
          <a:solidFill>
            <a:srgbClr val="E6EDF4"/>
          </a:solidFill>
          <a:ln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82331"/>
                </a:solidFill>
              </a:rPr>
              <a:t>Impact: potential unauthorized account access and authentication compromise.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8. Security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5:05–5:35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AA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AA2D2D"/>
                </a:solidFill>
              </a:rPr>
              <a:t>CONFIDENTIALITY</a:t>
            </a:r>
          </a:p>
          <a:p>
            <a:pPr algn="ctr"/>
            <a:r>
              <a:rPr sz="1500">
                <a:solidFill>
                  <a:srgbClr val="182331"/>
                </a:solidFill>
              </a:rPr>
              <a:t>Unauthorized records and authentication data can be exposed.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508760"/>
            <a:ext cx="3383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1E5A8C"/>
                </a:solidFill>
              </a:rPr>
              <a:t>SCHEMA DISCLOSURE</a:t>
            </a:r>
          </a:p>
          <a:p>
            <a:pPr algn="ctr"/>
            <a:r>
              <a:rPr sz="1500">
                <a:solidFill>
                  <a:srgbClr val="182331"/>
                </a:solidFill>
              </a:rPr>
              <a:t>Database tables and columns can be mapped.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08760"/>
            <a:ext cx="3383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AA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AA2D2D"/>
                </a:solidFill>
              </a:rPr>
              <a:t>ACCOUNT RISK</a:t>
            </a:r>
          </a:p>
          <a:p>
            <a:pPr algn="ctr"/>
            <a:r>
              <a:rPr sz="1500">
                <a:solidFill>
                  <a:srgbClr val="182331"/>
                </a:solidFill>
              </a:rPr>
              <a:t>Exposed weak hashes may enable unauthorized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10698480" cy="731520"/>
          </a:xfrm>
          <a:prstGeom prst="roundRect">
            <a:avLst/>
          </a:prstGeom>
          <a:solidFill>
            <a:srgbClr val="E6EDF4"/>
          </a:solidFill>
          <a:ln>
            <a:solidFill>
              <a:srgbClr val="E6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182331"/>
                </a:solidFill>
              </a:rPr>
              <a:t>Overall laboratory severity: 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9. Secure Implementation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5:35–6:20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34440"/>
          </a:xfrm>
          <a:prstGeom prst="roundRect">
            <a:avLst/>
          </a:prstGeom>
          <a:solidFill>
            <a:srgbClr val="182331"/>
          </a:solidFill>
          <a:ln>
            <a:solidFill>
              <a:srgbClr val="18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/>
          <a:lstStyle/>
          <a:p>
            <a:pPr algn="ctr"/>
            <a:r>
              <a:rPr sz="1800">
                <a:solidFill>
                  <a:srgbClr val="FFFFFF"/>
                </a:solidFill>
                <a:latin typeface="Consolas"/>
              </a:rPr>
              <a:t>User Input  →  Validation  →  Parameterized Query  → 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Do not solve SQLi by blocking only known attack strings.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Validate according to expected data type and business rule.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Use Prepared Statements for database operations.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Use least-privilege database credentials.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10. Prepared Statements: 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6:20–7:05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1143000"/>
          </a:xfrm>
          <a:prstGeom prst="roundRect">
            <a:avLst/>
          </a:prstGeom>
          <a:solidFill>
            <a:srgbClr val="182331"/>
          </a:solidFill>
          <a:ln>
            <a:solidFill>
              <a:srgbClr val="18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/>
          <a:lstStyle/>
          <a:p>
            <a:pPr algn="ctr"/>
            <a:r>
              <a:rPr sz="1800">
                <a:solidFill>
                  <a:srgbClr val="FFFFFF"/>
                </a:solidFill>
                <a:latin typeface="Consolas"/>
              </a:rPr>
              <a:t>SELECT * FROM users WHERE id =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SQL structure is fixed separately from the supplied value.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The placeholder represents data, not SQL syntax.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The database does not interpret the input as executable SQL.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For an ID field, accept only an appropriate numeric value before binding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11. Retest After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7:05–7:40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Repeat the same controlled SQL Injection test.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Expected behavior: reject invalid input or treat it strictly as data.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The application must not return the additional records seen before remediation.</a:t>
            </a:r>
          </a:p>
          <a:p>
            <a:pPr>
              <a:spcAft>
                <a:spcPts val="900"/>
              </a:spcAft>
              <a:defRPr sz="1700">
                <a:solidFill>
                  <a:srgbClr val="182331"/>
                </a:solidFill>
              </a:defRPr>
            </a:pPr>
            <a:r>
              <a:t>• This confirms the fix through regression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1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E5A8C"/>
                </a:solidFill>
              </a:rPr>
              <a:t>[ INSERT LAB SCREENSHOT ]
Remediated result: payload rejected or treated strictly as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12. Final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7:40–8:00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1234440"/>
          </a:xfrm>
          <a:prstGeom prst="roundRect">
            <a:avLst/>
          </a:prstGeom>
          <a:solidFill>
            <a:srgbClr val="182331"/>
          </a:solidFill>
          <a:ln>
            <a:solidFill>
              <a:srgbClr val="18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/>
          <a:lstStyle/>
          <a:p>
            <a:pPr algn="ctr"/>
            <a:r>
              <a:rPr sz="1800">
                <a:solidFill>
                  <a:srgbClr val="FFFFFF"/>
                </a:solidFill>
                <a:latin typeface="Consolas"/>
              </a:rPr>
              <a:t>Input → Validation → Prepared Statement →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Finding: SQL Injection caused unauthorized database access in intentionally vulnerable DVWA.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Primary fix: parameterized queries / Prepared Statements.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Supporting controls: validation, least privilege, safe errors, secure password hashing.</a:t>
            </a:r>
          </a:p>
          <a:p>
            <a:pPr>
              <a:spcAft>
                <a:spcPts val="900"/>
              </a:spcAft>
              <a:defRPr sz="1600">
                <a:solidFill>
                  <a:srgbClr val="182331"/>
                </a:solidFill>
              </a:defRPr>
            </a:pPr>
            <a:r>
              <a:t>• Verify remediation by repeating the original security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331"/>
                </a:solidFill>
              </a:rPr>
              <a:t>Evidence Checklist for the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Use as the final production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DVWA SQLi Demo • Debika Goswami •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34440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0"/>
              </a:tblGrid>
              <a:tr h="448887">
                <a:tc>
                  <a:txBody>
                    <a:bodyPr/>
                    <a:lstStyle/>
                    <a:p>
                      <a:r>
                        <a:rPr b="1" sz="1200"/>
                        <a:t>Evidence</a:t>
                      </a:r>
                    </a:p>
                  </a:txBody>
                  <a:tcPr>
                    <a:solidFill>
                      <a:srgbClr val="E6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/>
                        <a:t>What to Show</a:t>
                      </a:r>
                    </a:p>
                  </a:txBody>
                  <a:tcPr>
                    <a:solidFill>
                      <a:srgbClr val="E6EDF4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VMware/Kali/DVWA environment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Baseline ID = 1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Vulnerable query explanation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Boolean SQLi result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Table enumeration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Column enumeration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Credential exposure — redact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Impact slide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Prepared Statement</a:t>
                      </a:r>
                    </a:p>
                  </a:txBody>
                  <a:tcPr/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82331"/>
                          </a:solidFill>
                        </a:rPr>
                        <a:t>Post-fix retest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